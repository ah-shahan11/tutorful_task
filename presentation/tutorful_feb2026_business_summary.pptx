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36"/>
    <p:restoredTop sz="94719"/>
  </p:normalViewPr>
  <p:slideViewPr>
    <p:cSldViewPr snapToGrid="0" snapToObjects="1">
      <p:cViewPr varScale="1">
        <p:scale>
          <a:sx n="152" d="100"/>
          <a:sy n="152" d="100"/>
        </p:scale>
        <p:origin x="101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EF3CF-3C31-8F4F-963F-441BEB6F9F8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3A7249-D577-924C-B140-560341FFEA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1779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Tenure means how long a student has been active at the point of churn or reactivation, measured from their first completed lesson. In this analysis, 'new' is under 90 days and 'established' is 90+ days.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3A7249-D577-924C-B140-560341FFEAD7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242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32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Student Churn and Reactivation: February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C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35040" y="1325880"/>
            <a:ext cx="57150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C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96892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2536"/>
                </a:solidFill>
              </a:defRPr>
            </a:pPr>
            <a:r>
              <a:rPr lang="en-GB" dirty="0"/>
              <a:t>Process: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3232" y="2130552"/>
            <a:ext cx="4663440" cy="304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  <a:defRPr sz="1250">
                <a:solidFill>
                  <a:srgbClr val="485563"/>
                </a:solidFill>
              </a:defRPr>
            </a:pPr>
            <a:r>
              <a:rPr lang="en-GB" b="1" i="1" dirty="0"/>
              <a:t>Raw</a:t>
            </a:r>
            <a:r>
              <a:rPr lang="en-GB" dirty="0"/>
              <a:t>: i</a:t>
            </a:r>
            <a:r>
              <a:rPr dirty="0" err="1"/>
              <a:t>ngested</a:t>
            </a:r>
            <a:r>
              <a:rPr dirty="0"/>
              <a:t> CSV files into </a:t>
            </a:r>
            <a:r>
              <a:rPr dirty="0" err="1"/>
              <a:t>BigQuery</a:t>
            </a:r>
            <a:r>
              <a:rPr dirty="0"/>
              <a:t> with </a:t>
            </a:r>
            <a:r>
              <a:rPr b="1" dirty="0" err="1"/>
              <a:t>dbt</a:t>
            </a:r>
            <a:r>
              <a:rPr b="1" dirty="0"/>
              <a:t> seed </a:t>
            </a:r>
            <a:r>
              <a:rPr dirty="0"/>
              <a:t>in </a:t>
            </a:r>
            <a:r>
              <a:rPr dirty="0" err="1"/>
              <a:t>tutorful_raw</a:t>
            </a:r>
            <a:r>
              <a:rPr dirty="0"/>
              <a:t>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  <a:defRPr sz="1250">
                <a:solidFill>
                  <a:srgbClr val="485563"/>
                </a:solidFill>
              </a:defRPr>
            </a:pPr>
            <a:r>
              <a:rPr lang="en-GB" b="1" i="1" dirty="0"/>
              <a:t>Staging</a:t>
            </a:r>
            <a:r>
              <a:rPr lang="en-GB" dirty="0"/>
              <a:t>: s</a:t>
            </a:r>
            <a:r>
              <a:rPr dirty="0" err="1"/>
              <a:t>tandardised</a:t>
            </a:r>
            <a:r>
              <a:rPr dirty="0"/>
              <a:t> raw data in </a:t>
            </a:r>
            <a:r>
              <a:rPr dirty="0" err="1"/>
              <a:t>tutorful_staging</a:t>
            </a:r>
            <a:r>
              <a:rPr dirty="0"/>
              <a:t>, including </a:t>
            </a:r>
            <a:r>
              <a:rPr b="1" dirty="0"/>
              <a:t>type casting </a:t>
            </a:r>
            <a:r>
              <a:rPr dirty="0"/>
              <a:t>and</a:t>
            </a:r>
            <a:r>
              <a:rPr b="1" dirty="0"/>
              <a:t> timestamp parsing</a:t>
            </a:r>
            <a:r>
              <a:rPr dirty="0"/>
              <a:t>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  <a:defRPr sz="1250">
                <a:solidFill>
                  <a:srgbClr val="485563"/>
                </a:solidFill>
              </a:defRPr>
            </a:pPr>
            <a:r>
              <a:rPr lang="en-GB" b="1" i="1" dirty="0"/>
              <a:t>Curated</a:t>
            </a:r>
            <a:r>
              <a:rPr lang="en-GB" dirty="0"/>
              <a:t>: </a:t>
            </a:r>
          </a:p>
          <a:p>
            <a:pPr marL="800100" lvl="1" indent="-342900">
              <a:spcAft>
                <a:spcPts val="700"/>
              </a:spcAft>
              <a:buFont typeface="Arial" panose="020B0604020202020204" pitchFamily="34" charset="0"/>
              <a:buChar char="•"/>
              <a:defRPr sz="1250">
                <a:solidFill>
                  <a:srgbClr val="485563"/>
                </a:solidFill>
              </a:defRPr>
            </a:pPr>
            <a:r>
              <a:rPr dirty="0"/>
              <a:t>Created curated models to derive </a:t>
            </a:r>
            <a:r>
              <a:rPr b="1" dirty="0"/>
              <a:t>completed-lesson activity</a:t>
            </a:r>
            <a:r>
              <a:rPr dirty="0"/>
              <a:t>, student </a:t>
            </a:r>
            <a:r>
              <a:rPr b="1" dirty="0"/>
              <a:t>lesson gaps</a:t>
            </a:r>
            <a:r>
              <a:rPr dirty="0"/>
              <a:t>, and lifecycle events.</a:t>
            </a:r>
          </a:p>
          <a:p>
            <a:pPr marL="800100" lvl="1" indent="-342900">
              <a:spcAft>
                <a:spcPts val="700"/>
              </a:spcAft>
              <a:buFont typeface="Arial" panose="020B0604020202020204" pitchFamily="34" charset="0"/>
              <a:buChar char="•"/>
              <a:defRPr sz="1250">
                <a:solidFill>
                  <a:srgbClr val="485563"/>
                </a:solidFill>
              </a:defRPr>
            </a:pPr>
            <a:r>
              <a:rPr dirty="0"/>
              <a:t>Defined churn as 30 days without a completed lesson and reactivation as a new completed lesson after a 30-day gap.</a:t>
            </a:r>
          </a:p>
          <a:p>
            <a:pPr marL="800100" lvl="1" indent="-342900">
              <a:spcAft>
                <a:spcPts val="700"/>
              </a:spcAft>
              <a:buFont typeface="Arial" panose="020B0604020202020204" pitchFamily="34" charset="0"/>
              <a:buChar char="•"/>
              <a:defRPr sz="1250">
                <a:solidFill>
                  <a:srgbClr val="485563"/>
                </a:solidFill>
              </a:defRPr>
            </a:pPr>
            <a:r>
              <a:rPr dirty="0"/>
              <a:t>Counted churn and reactivation as repeatable lifecycle events, so the same student can appear multiple times over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7276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2536"/>
                </a:solidFill>
              </a:defRPr>
            </a:pPr>
            <a:r>
              <a:t>February 2026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965960"/>
            <a:ext cx="2240280" cy="123444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19672" y="2130552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Churn events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3,729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965960"/>
            <a:ext cx="2240280" cy="1234440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71432" y="2130552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Reactivation events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2,942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5989320"/>
            <a:ext cx="11338560" cy="502920"/>
          </a:xfrm>
          <a:prstGeom prst="roundRect">
            <a:avLst/>
          </a:prstGeom>
          <a:solidFill>
            <a:srgbClr val="132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6108192"/>
            <a:ext cx="831772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rPr lang="en-GB" dirty="0"/>
              <a:t>R</a:t>
            </a:r>
            <a:r>
              <a:rPr dirty="0"/>
              <a:t>aw lesson data </a:t>
            </a:r>
            <a:r>
              <a:rPr lang="en-GB" dirty="0"/>
              <a:t>is turned into</a:t>
            </a:r>
            <a:r>
              <a:rPr dirty="0"/>
              <a:t> a repeatable student lifecycle view that the business can use to monitor retention risk and recovery.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32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686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Detailed Evidence Behind the February 2026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6868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85563"/>
                </a:solidFill>
              </a:defRPr>
            </a:pPr>
            <a:r>
              <a:t>These observations now come from materialised curated tables, not one-off queries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28803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C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46304" cy="448056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2514600" cy="407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C2536"/>
                </a:solidFill>
              </a:defRPr>
            </a:pPr>
            <a:r>
              <a:rPr dirty="0"/>
              <a:t>1. Subject evidence</a:t>
            </a: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r>
              <a:rPr dirty="0"/>
              <a:t>Table: mart_lifecycle_by_subject_feb2026</a:t>
            </a: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r>
              <a:rPr dirty="0"/>
              <a:t>Top churn rows: </a:t>
            </a:r>
            <a:br>
              <a:rPr lang="en-GB" dirty="0"/>
            </a:br>
            <a:r>
              <a:rPr dirty="0"/>
              <a:t>GCSE </a:t>
            </a:r>
            <a:br>
              <a:rPr lang="en-GB" dirty="0"/>
            </a:br>
            <a:r>
              <a:rPr dirty="0" err="1"/>
              <a:t>subject_id</a:t>
            </a:r>
            <a:r>
              <a:rPr dirty="0"/>
              <a:t> 6 = 403, </a:t>
            </a:r>
            <a:br>
              <a:rPr lang="en-GB" dirty="0"/>
            </a:br>
            <a:r>
              <a:rPr dirty="0" err="1"/>
              <a:t>subject_id</a:t>
            </a:r>
            <a:r>
              <a:rPr dirty="0"/>
              <a:t> 27 = 312, </a:t>
            </a:r>
            <a:br>
              <a:rPr lang="en-GB" dirty="0"/>
            </a:br>
            <a:r>
              <a:rPr dirty="0" err="1"/>
              <a:t>subject_id</a:t>
            </a:r>
            <a:r>
              <a:rPr dirty="0"/>
              <a:t> 51 = 186.</a:t>
            </a: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r>
              <a:rPr dirty="0"/>
              <a:t>Top reactivation rows: </a:t>
            </a:r>
            <a:br>
              <a:rPr lang="en-GB" dirty="0"/>
            </a:br>
            <a:r>
              <a:rPr dirty="0"/>
              <a:t>GCSE </a:t>
            </a:r>
            <a:br>
              <a:rPr lang="en-GB" dirty="0"/>
            </a:br>
            <a:r>
              <a:rPr dirty="0" err="1"/>
              <a:t>subject_id</a:t>
            </a:r>
            <a:r>
              <a:rPr dirty="0"/>
              <a:t> 6 = 318, </a:t>
            </a:r>
            <a:br>
              <a:rPr lang="en-GB" dirty="0"/>
            </a:br>
            <a:r>
              <a:rPr dirty="0" err="1"/>
              <a:t>subject_id</a:t>
            </a:r>
            <a:r>
              <a:rPr dirty="0"/>
              <a:t> 27 = 255.</a:t>
            </a:r>
            <a:br>
              <a:rPr lang="en-GB" dirty="0"/>
            </a:b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r>
              <a:rPr dirty="0"/>
              <a:t>Suggestion: GCSE-related areas are repeatedly near the top, so subject-level retention review should start there.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1325880"/>
            <a:ext cx="28803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C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39" y="1325880"/>
            <a:ext cx="146304" cy="4480560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40" y="1536192"/>
            <a:ext cx="2514600" cy="407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C2536"/>
                </a:solidFill>
              </a:defRPr>
            </a:pPr>
            <a:r>
              <a:rPr dirty="0"/>
              <a:t>2. Tutor evidence</a:t>
            </a: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r>
              <a:rPr dirty="0"/>
              <a:t>Table: mart_lifecycle_by_tutor_feb2026</a:t>
            </a:r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br>
              <a:rPr lang="en-GB" dirty="0"/>
            </a:br>
            <a:r>
              <a:rPr dirty="0"/>
              <a:t>Top churn tutors: </a:t>
            </a:r>
            <a:br>
              <a:rPr lang="en-GB" dirty="0"/>
            </a:br>
            <a:br>
              <a:rPr lang="en-GB" dirty="0"/>
            </a:br>
            <a:r>
              <a:rPr lang="en-GB" dirty="0" err="1"/>
              <a:t>tutor_id</a:t>
            </a:r>
            <a:r>
              <a:rPr lang="en-GB" dirty="0"/>
              <a:t> </a:t>
            </a:r>
            <a:r>
              <a:rPr dirty="0"/>
              <a:t>28890 = 16, </a:t>
            </a:r>
            <a:br>
              <a:rPr lang="en-GB" dirty="0"/>
            </a:br>
            <a:r>
              <a:rPr lang="en-GB" dirty="0" err="1"/>
              <a:t>tutor_id</a:t>
            </a:r>
            <a:r>
              <a:rPr lang="en-GB" dirty="0"/>
              <a:t> </a:t>
            </a:r>
            <a:r>
              <a:rPr dirty="0"/>
              <a:t>57973 = 15, </a:t>
            </a:r>
            <a:br>
              <a:rPr lang="en-GB" dirty="0"/>
            </a:br>
            <a:r>
              <a:rPr lang="en-GB" dirty="0" err="1"/>
              <a:t>tutor_id</a:t>
            </a:r>
            <a:r>
              <a:rPr lang="en-GB" dirty="0"/>
              <a:t> </a:t>
            </a:r>
            <a:r>
              <a:rPr dirty="0"/>
              <a:t>381292 = 15.</a:t>
            </a: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r>
              <a:rPr dirty="0"/>
              <a:t>Top reactivation tutors: </a:t>
            </a:r>
            <a:br>
              <a:rPr lang="en-GB" dirty="0"/>
            </a:br>
            <a:r>
              <a:rPr lang="en-GB" dirty="0" err="1"/>
              <a:t>tutor_id</a:t>
            </a:r>
            <a:r>
              <a:rPr lang="en-GB" dirty="0"/>
              <a:t> </a:t>
            </a:r>
            <a:r>
              <a:rPr dirty="0"/>
              <a:t>627047 = 19, </a:t>
            </a:r>
            <a:br>
              <a:rPr lang="en-GB" dirty="0"/>
            </a:br>
            <a:r>
              <a:rPr lang="en-GB" dirty="0" err="1"/>
              <a:t>tutor_id</a:t>
            </a:r>
            <a:r>
              <a:rPr lang="en-GB" dirty="0"/>
              <a:t> </a:t>
            </a:r>
            <a:r>
              <a:rPr dirty="0"/>
              <a:t>57973 = 15.</a:t>
            </a: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br>
              <a:rPr lang="en-GB" dirty="0"/>
            </a:br>
            <a:br>
              <a:rPr lang="en-GB" dirty="0"/>
            </a:br>
            <a:r>
              <a:rPr dirty="0"/>
              <a:t>Suggestion: tutor effects look more dispersed, so tutor reporting is better for spotting outliers than explaining total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1325880"/>
            <a:ext cx="28803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C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52360" y="1325880"/>
            <a:ext cx="146304" cy="4480560"/>
          </a:xfrm>
          <a:prstGeom prst="roundRect">
            <a:avLst/>
          </a:prstGeom>
          <a:solidFill>
            <a:srgbClr val="132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1536192"/>
            <a:ext cx="2514600" cy="407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C2536"/>
                </a:solidFill>
              </a:defRPr>
            </a:pPr>
            <a:r>
              <a:rPr dirty="0"/>
              <a:t>3. Tenure evidence</a:t>
            </a: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r>
              <a:rPr dirty="0"/>
              <a:t>Table: mart_lifecycle_by_tenure_feb2026</a:t>
            </a:r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br>
              <a:rPr lang="en-GB" dirty="0"/>
            </a:br>
            <a:r>
              <a:rPr dirty="0"/>
              <a:t>Established </a:t>
            </a:r>
            <a:r>
              <a:rPr lang="en-GB" dirty="0"/>
              <a:t>Tutors </a:t>
            </a:r>
            <a:r>
              <a:rPr dirty="0"/>
              <a:t>churn = 2,960 </a:t>
            </a:r>
            <a:br>
              <a:rPr lang="en-GB" dirty="0"/>
            </a:br>
            <a:r>
              <a:rPr lang="en-GB" dirty="0"/>
              <a:t>New Tutors</a:t>
            </a:r>
            <a:r>
              <a:rPr dirty="0"/>
              <a:t> churn = 769.</a:t>
            </a: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r>
              <a:rPr dirty="0"/>
              <a:t>Established </a:t>
            </a:r>
            <a:r>
              <a:rPr lang="en-GB" dirty="0"/>
              <a:t>Tutors </a:t>
            </a:r>
            <a:r>
              <a:rPr dirty="0"/>
              <a:t>reactivation = 2,606 </a:t>
            </a:r>
            <a:r>
              <a:rPr lang="en-GB" dirty="0"/>
              <a:t>N</a:t>
            </a:r>
            <a:r>
              <a:rPr dirty="0" err="1"/>
              <a:t>ew</a:t>
            </a:r>
            <a:r>
              <a:rPr lang="en-GB" dirty="0"/>
              <a:t> Tutors</a:t>
            </a:r>
            <a:r>
              <a:rPr dirty="0"/>
              <a:t> reactivation = 336.</a:t>
            </a:r>
            <a:br>
              <a:rPr lang="en-GB" dirty="0"/>
            </a:br>
            <a:br>
              <a:rPr lang="en-GB" dirty="0"/>
            </a:br>
            <a:br>
              <a:rPr lang="en-GB" dirty="0"/>
            </a:br>
            <a:br>
              <a:rPr lang="en-GB" dirty="0"/>
            </a:br>
            <a:br>
              <a:rPr lang="en-GB" dirty="0"/>
            </a:br>
            <a:br>
              <a:rPr lang="en-GB" dirty="0"/>
            </a:br>
            <a:br>
              <a:rPr lang="en-GB" dirty="0"/>
            </a:br>
            <a:endParaRPr dirty="0"/>
          </a:p>
          <a:p>
            <a:pPr>
              <a:spcAft>
                <a:spcPts val="400"/>
              </a:spcAft>
              <a:defRPr sz="1130">
                <a:solidFill>
                  <a:srgbClr val="485563"/>
                </a:solidFill>
              </a:defRPr>
            </a:pPr>
            <a:r>
              <a:rPr dirty="0"/>
              <a:t>Suggestion: most lifecycle volume sits with established students, so the biggest retention opportunity is protecting the existing base.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925312"/>
            <a:ext cx="11201400" cy="502920"/>
          </a:xfrm>
          <a:prstGeom prst="roundRect">
            <a:avLst/>
          </a:prstGeom>
          <a:solidFill>
            <a:srgbClr val="132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6044184"/>
            <a:ext cx="689233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rPr lang="en-GB" dirty="0"/>
              <a:t>E</a:t>
            </a:r>
            <a:r>
              <a:rPr dirty="0"/>
              <a:t>stablished-student retention and high-volume subject areas as the highest-impact places to intervene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32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Additional Retention Analysis: Where to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686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85563"/>
                </a:solidFill>
              </a:defRPr>
            </a:pPr>
            <a:r>
              <a:t>New curated marts cut lifecycle events by subject, tutor, and student tenure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338328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C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64592" cy="169164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508760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C2536"/>
                </a:solidFill>
              </a:defRPr>
            </a:pPr>
            <a:r>
              <a:t>Subject view</a:t>
            </a:r>
          </a:p>
          <a:p>
            <a:pPr>
              <a:defRPr sz="1150">
                <a:solidFill>
                  <a:srgbClr val="485563"/>
                </a:solidFill>
              </a:defRPr>
            </a:pPr>
            <a:r>
              <a:t>GCSE-related subjects drove the highest churn and reactivation volumes in February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325880"/>
            <a:ext cx="338328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C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0" y="1325880"/>
            <a:ext cx="164592" cy="1691640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70832" y="1508760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C2536"/>
                </a:solidFill>
              </a:defRPr>
            </a:pPr>
            <a:r>
              <a:t>Tutor view</a:t>
            </a:r>
          </a:p>
          <a:p>
            <a:pPr>
              <a:defRPr sz="1150">
                <a:solidFill>
                  <a:srgbClr val="485563"/>
                </a:solidFill>
              </a:defRPr>
            </a:pPr>
            <a:r>
              <a:t>Tutor events were more dispersed: the top tutor drove 16 churn events and the top reactivation tutor drove 19.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325880"/>
            <a:ext cx="338328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C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726679" y="1325880"/>
            <a:ext cx="164592" cy="1691640"/>
          </a:xfrm>
          <a:prstGeom prst="roundRect">
            <a:avLst/>
          </a:prstGeom>
          <a:solidFill>
            <a:srgbClr val="132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82711" y="1508760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C2536"/>
                </a:solidFill>
              </a:defRPr>
            </a:pPr>
            <a:r>
              <a:t>Tenure view</a:t>
            </a:r>
          </a:p>
          <a:p>
            <a:pPr>
              <a:defRPr sz="1150">
                <a:solidFill>
                  <a:srgbClr val="485563"/>
                </a:solidFill>
              </a:defRPr>
            </a:pPr>
            <a:r>
              <a:t>Established students drove most lifecycle events, showing retention action should prioritise the existing base.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37560"/>
            <a:ext cx="1124712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C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" y="3589020"/>
            <a:ext cx="310896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2536"/>
                </a:solidFill>
              </a:defRPr>
            </a:pPr>
            <a:r>
              <a:rPr dirty="0"/>
              <a:t>Suggested next actions</a:t>
            </a:r>
          </a:p>
          <a:p>
            <a:pPr>
              <a:defRPr sz="1200">
                <a:solidFill>
                  <a:srgbClr val="485563"/>
                </a:solidFill>
              </a:defRPr>
            </a:pPr>
            <a:r>
              <a:rPr dirty="0" err="1"/>
              <a:t>Prioritise</a:t>
            </a:r>
            <a:r>
              <a:rPr dirty="0"/>
              <a:t> retention plays for established students, where most volume sits</a:t>
            </a:r>
          </a:p>
          <a:p>
            <a:pPr>
              <a:defRPr sz="1200">
                <a:solidFill>
                  <a:srgbClr val="485563"/>
                </a:solidFill>
              </a:defRPr>
            </a:pPr>
            <a:r>
              <a:rPr dirty="0"/>
              <a:t>Review GCSE journeys first to understand why both churn and reactivation are high</a:t>
            </a:r>
          </a:p>
          <a:p>
            <a:pPr>
              <a:defRPr sz="1200">
                <a:solidFill>
                  <a:srgbClr val="485563"/>
                </a:solidFill>
              </a:defRPr>
            </a:pPr>
            <a:r>
              <a:rPr dirty="0"/>
              <a:t>Use tutor-level monitoring as an exception view rather than the primary lens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579</Words>
  <Application>Microsoft Macintosh PowerPoint</Application>
  <PresentationFormat>Widescreen</PresentationFormat>
  <Paragraphs>46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Shahan Ahmed</cp:lastModifiedBy>
  <cp:revision>5</cp:revision>
  <dcterms:created xsi:type="dcterms:W3CDTF">2013-01-27T09:14:16Z</dcterms:created>
  <dcterms:modified xsi:type="dcterms:W3CDTF">2026-04-20T07:31:17Z</dcterms:modified>
  <cp:category/>
</cp:coreProperties>
</file>